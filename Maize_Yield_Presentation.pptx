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Yield (t/ha)</c:v>
                </c:pt>
              </c:strCache>
            </c:strRef>
          </c:tx>
          <c:spPr>
            <a:solidFill>
              <a:srgbClr val="2d6a4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800" spc="-1" strike="noStrike">
                    <a:solidFill>
                      <a:srgbClr val="1a3c2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2.822</c:v>
                </c:pt>
                <c:pt idx="1">
                  <c:v>4.095</c:v>
                </c:pt>
                <c:pt idx="2">
                  <c:v>3.934</c:v>
                </c:pt>
                <c:pt idx="3">
                  <c:v>3.892</c:v>
                </c:pt>
                <c:pt idx="4">
                  <c:v>3.946</c:v>
                </c:pt>
                <c:pt idx="5">
                  <c:v>3.308</c:v>
                </c:pt>
                <c:pt idx="6">
                  <c:v>4.259</c:v>
                </c:pt>
                <c:pt idx="7">
                  <c:v>3.241</c:v>
                </c:pt>
                <c:pt idx="8">
                  <c:v>3.065</c:v>
                </c:pt>
                <c:pt idx="9">
                  <c:v>3.683</c:v>
                </c:pt>
                <c:pt idx="10">
                  <c:v>3.5</c:v>
                </c:pt>
                <c:pt idx="11">
                  <c:v>4.041</c:v>
                </c:pt>
              </c:numCache>
            </c:numRef>
          </c:val>
        </c:ser>
        <c:gapWidth val="150"/>
        <c:overlap val="0"/>
        <c:axId val="12385657"/>
        <c:axId val="23344185"/>
      </c:barChart>
      <c:catAx>
        <c:axId val="1238565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23344185"/>
        <c:crosses val="autoZero"/>
        <c:auto val="1"/>
        <c:lblAlgn val="ctr"/>
        <c:lblOffset val="100"/>
        <c:noMultiLvlLbl val="0"/>
      </c:catAx>
      <c:valAx>
        <c:axId val="23344185"/>
        <c:scaling>
          <c:orientation val="minMax"/>
          <c:max val="5"/>
          <c:min val="2"/>
        </c:scaling>
        <c:delete val="0"/>
        <c:axPos val="l"/>
        <c:majorGridlines>
          <c:spPr>
            <a:ln w="648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1238565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2F8B16D-48D9-4D3B-9AEF-1A344658A4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1C40CB-3B5E-4B2C-B16E-2D8458A5C2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0C9071-CD38-42C9-92AE-E244634014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DDA19E-393C-4EF2-A831-E4717C046A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3A6ADF-2435-451D-9EA0-26A87B8573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4AB010-58FC-4FF8-BD53-2C03F425E9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B1ED6-90BF-45BB-81E5-A48E129348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0F334F-28E0-44C7-962E-259514A07A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348046-40EC-41C8-AFF0-54B8B7C875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72CE4A-628E-44E1-BF5C-BD8B48BFA4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C7EB73-8587-46D0-AA86-85B29A3FF7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30E38A-EFBF-49AC-A824-3CE2C3B3E5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B20B84-77B9-4821-8B02-6F2DECCB59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6FE19-CF17-4242-AED1-752CA36612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0"/>
            <a:ext cx="3200040" cy="5143320"/>
          </a:xfrm>
          <a:prstGeom prst="rect">
            <a:avLst/>
          </a:prstGeom>
          <a:solidFill>
            <a:srgbClr val="2d6a4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2d6a4f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>
            <a:alphaModFix amt="45000"/>
          </a:blip>
          <a:stretch/>
        </p:blipFill>
        <p:spPr>
          <a:xfrm>
            <a:off x="6492240" y="457200"/>
            <a:ext cx="2285640" cy="2285640"/>
          </a:xfrm>
          <a:prstGeom prst="rect">
            <a:avLst/>
          </a:prstGeom>
          <a:ln w="0">
            <a:noFill/>
          </a:ln>
        </p:spPr>
      </p:pic>
      <p:sp>
        <p:nvSpPr>
          <p:cNvPr id="11" name="Shape 2"/>
          <p:cNvSpPr/>
          <p:nvPr/>
        </p:nvSpPr>
        <p:spPr>
          <a:xfrm>
            <a:off x="0" y="0"/>
            <a:ext cx="136800" cy="514332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11480" y="91440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MAIZE YIELD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11480" y="164592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52b788"/>
                </a:solidFill>
                <a:latin typeface="Georgia"/>
                <a:ea typeface="Georgia"/>
              </a:rPr>
              <a:t>PREDICTION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11480" y="2514600"/>
            <a:ext cx="6217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5d5b2"/>
                </a:solidFill>
                <a:latin typeface="Calibri"/>
                <a:ea typeface="Calibri"/>
              </a:rPr>
              <a:t>Uasin Gishu County, Kenya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11480" y="294444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a8d8b9"/>
                </a:solidFill>
                <a:latin typeface="Calibri"/>
                <a:ea typeface="Calibri"/>
              </a:rPr>
              <a:t>Can seasonal weather predict how much maize farmers will harvest?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411480" y="3584520"/>
            <a:ext cx="5028840" cy="36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411480" y="37033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411480" y="39045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4251960" y="37033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251960" y="39045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8412480" y="48279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</a:rPr>
              <a:t>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3c2e"/>
                </a:solidFill>
                <a:latin typeface="Georgia"/>
                <a:ea typeface="Georgia"/>
              </a:rPr>
              <a:t>At a Glance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411480" y="98748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Uasin Gishu County  ·  2012–2023  ·  12 years of data  ·  5 datasets combined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274320" y="1325880"/>
            <a:ext cx="2011320" cy="126144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274320" y="1325880"/>
            <a:ext cx="63720" cy="126144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38840" y="1435680"/>
            <a:ext cx="178272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3.65 t/ha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38840" y="1956960"/>
            <a:ext cx="17827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County Average Yield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38840" y="2234520"/>
            <a:ext cx="17827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2012 – 2023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2450520" y="1325880"/>
            <a:ext cx="2011320" cy="126144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2450520" y="1325880"/>
            <a:ext cx="63720" cy="126144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2615040" y="1435680"/>
            <a:ext cx="178272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4.26 t/ha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2615040" y="1956960"/>
            <a:ext cx="17827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Best Year on Record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2615040" y="2234520"/>
            <a:ext cx="17827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2018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4626720" y="1325880"/>
            <a:ext cx="2011320" cy="126144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4626720" y="1325880"/>
            <a:ext cx="63720" cy="126144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4791600" y="1435680"/>
            <a:ext cx="178272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2.82 t/ha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4791600" y="1956960"/>
            <a:ext cx="17827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Worst Year on Record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4791600" y="2234520"/>
            <a:ext cx="17827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2012 — MLN outbreak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6803280" y="1325880"/>
            <a:ext cx="2011320" cy="126144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6803280" y="1325880"/>
            <a:ext cx="63720" cy="126144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6967800" y="1435680"/>
            <a:ext cx="178272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~6.5 t/ha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6967800" y="1956960"/>
            <a:ext cx="178272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Yield Gap vs Seed Potential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6967800" y="2234520"/>
            <a:ext cx="17827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Seeds can do 9–11 t/ha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" name="Chart 0"/>
          <p:cNvGraphicFramePr/>
          <p:nvPr/>
        </p:nvGraphicFramePr>
        <p:xfrm>
          <a:off x="274320" y="2697480"/>
          <a:ext cx="8595000" cy="193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7" name="Text 24"/>
          <p:cNvSpPr/>
          <p:nvPr/>
        </p:nvSpPr>
        <p:spPr>
          <a:xfrm>
            <a:off x="274320" y="468180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b7280"/>
                </a:solidFill>
                <a:latin typeface="Calibri"/>
                <a:ea typeface="Calibri"/>
              </a:rPr>
              <a:t>Annual Maize Yield (t/ha)  ·  Uasin Gishu County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DATA SOURCES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3c2e"/>
                </a:solidFill>
                <a:latin typeface="Georgia"/>
                <a:ea typeface="Georgia"/>
              </a:rPr>
              <a:t>Five Datasets. One Picture.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274320" y="107892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274320" y="1078920"/>
            <a:ext cx="63720" cy="100548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457200" y="11703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2e"/>
                </a:solidFill>
                <a:latin typeface="Georgia"/>
                <a:ea typeface="Georgia"/>
              </a:rPr>
              <a:t>Maize Yield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57200" y="14263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Ministry of Agriculture, Kenya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57200" y="16092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Annual yield (t/ha)  ·  2012–2023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57200" y="17920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2b788"/>
                </a:solidFill>
                <a:latin typeface="Calibri"/>
                <a:ea typeface="Calibri"/>
              </a:rPr>
              <a:t>12 rows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274320" y="222192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274320" y="2221920"/>
            <a:ext cx="63720" cy="100548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57200" y="23133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2e"/>
                </a:solidFill>
                <a:latin typeface="Georgia"/>
                <a:ea typeface="Georgia"/>
              </a:rPr>
              <a:t>Weather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457200" y="25693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e40af"/>
                </a:solidFill>
                <a:latin typeface="Calibri"/>
                <a:ea typeface="Calibri"/>
              </a:rPr>
              <a:t>NASA POWER Satellite Archive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457200" y="27522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Monthly rainfall, temp, humidity, soil wetness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457200" y="29350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2b788"/>
                </a:solidFill>
                <a:latin typeface="Calibri"/>
                <a:ea typeface="Calibri"/>
              </a:rPr>
              <a:t>140 rows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274320" y="336492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274320" y="3364920"/>
            <a:ext cx="63720" cy="10054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457200" y="34563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2e"/>
                </a:solidFill>
                <a:latin typeface="Georgia"/>
                <a:ea typeface="Georgia"/>
              </a:rPr>
              <a:t>Soil Properties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457200" y="37123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Purdue University  (2014)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457200" y="38952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pH, nitrogen, soil classification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457200" y="40780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2b788"/>
                </a:solidFill>
                <a:latin typeface="Calibri"/>
                <a:ea typeface="Calibri"/>
              </a:rPr>
              <a:t>18 rows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4754880" y="107892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4754880" y="1078920"/>
            <a:ext cx="63720" cy="10054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4937760" y="11703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2e"/>
                </a:solidFill>
                <a:latin typeface="Georgia"/>
                <a:ea typeface="Georgia"/>
              </a:rPr>
              <a:t>Seed Varieties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4937760" y="14263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52b788"/>
                </a:solidFill>
                <a:latin typeface="Calibri"/>
                <a:ea typeface="Calibri"/>
              </a:rPr>
              <a:t>CIMMYT / Tegemeo Institute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4937760" y="16092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Variety, yield potential, disease risk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4937760" y="17920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2b788"/>
                </a:solidFill>
                <a:latin typeface="Calibri"/>
                <a:ea typeface="Calibri"/>
              </a:rPr>
              <a:t>26 rows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7"/>
          <p:cNvSpPr/>
          <p:nvPr/>
        </p:nvSpPr>
        <p:spPr>
          <a:xfrm>
            <a:off x="4754880" y="2221920"/>
            <a:ext cx="41601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8"/>
          <p:cNvSpPr/>
          <p:nvPr/>
        </p:nvSpPr>
        <p:spPr>
          <a:xfrm>
            <a:off x="4754880" y="2221920"/>
            <a:ext cx="63720" cy="1005480"/>
          </a:xfrm>
          <a:prstGeom prst="rect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4937760" y="23133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3c2e"/>
                </a:solidFill>
                <a:latin typeface="Georgia"/>
                <a:ea typeface="Georgia"/>
              </a:rPr>
              <a:t>Area Planted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4937760" y="25693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Ministry of Agriculture, Kenya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4937760" y="27522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Hectares planted per year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4937760" y="29350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2b788"/>
                </a:solidFill>
                <a:latin typeface="Calibri"/>
                <a:ea typeface="Calibri"/>
              </a:rPr>
              <a:t>12 rows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3"/>
          <p:cNvSpPr/>
          <p:nvPr/>
        </p:nvSpPr>
        <p:spPr>
          <a:xfrm>
            <a:off x="274320" y="4407480"/>
            <a:ext cx="8595000" cy="383760"/>
          </a:xfrm>
          <a:prstGeom prst="rect">
            <a:avLst/>
          </a:prstGeom>
          <a:solidFill>
            <a:srgbClr val="1a3c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4"/>
          <p:cNvSpPr/>
          <p:nvPr/>
        </p:nvSpPr>
        <p:spPr>
          <a:xfrm>
            <a:off x="411480" y="4407480"/>
            <a:ext cx="832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2b788"/>
                </a:solidFill>
                <a:latin typeface="Calibri"/>
                <a:ea typeface="Calibri"/>
              </a:rPr>
              <a:t>→  </a:t>
            </a:r>
            <a:r>
              <a:rPr b="1" lang="en-US" sz="1100" spc="-1" strike="noStrike">
                <a:solidFill>
                  <a:srgbClr val="52b788"/>
                </a:solidFill>
                <a:latin typeface="Calibri"/>
                <a:ea typeface="Calibri"/>
              </a:rPr>
              <a:t>All five datasets merged on Year  ·  Final table: 12 rows × 38 columns  ·  Zero missing values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6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7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METHODOLOGY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From Raw Data to Prediction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274320" y="1097280"/>
            <a:ext cx="1572480" cy="292572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274320" y="1097280"/>
            <a:ext cx="1572480" cy="54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786240" y="1234440"/>
            <a:ext cx="548280" cy="54828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786240" y="12344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3c2e"/>
                </a:solidFill>
                <a:latin typeface="Georgia"/>
                <a:ea typeface="Georgia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365760" y="190188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Clean &amp; Merge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384120" y="2395800"/>
            <a:ext cx="13528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Standardised all 5 datasets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Merged on Year column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12 rows · 33 columns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1851840" y="2523600"/>
            <a:ext cx="45360" cy="7272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1901880" y="1097280"/>
            <a:ext cx="1572480" cy="292572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1901880" y="1097280"/>
            <a:ext cx="1572480" cy="54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2414160" y="1234440"/>
            <a:ext cx="548280" cy="54828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2414160" y="12344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3c2e"/>
                </a:solidFill>
                <a:latin typeface="Georgia"/>
                <a:ea typeface="Georgia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1993320" y="190188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Seasonal Features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2011680" y="2395800"/>
            <a:ext cx="13528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Split each variable into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4 agronomic seasons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21 weather features created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3479400" y="2523600"/>
            <a:ext cx="45360" cy="7272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7"/>
          <p:cNvSpPr/>
          <p:nvPr/>
        </p:nvSpPr>
        <p:spPr>
          <a:xfrm>
            <a:off x="3529440" y="1097280"/>
            <a:ext cx="1572480" cy="292572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3529440" y="1097280"/>
            <a:ext cx="1572480" cy="54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4041720" y="1234440"/>
            <a:ext cx="548280" cy="54828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4041720" y="12344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3c2e"/>
                </a:solidFill>
                <a:latin typeface="Georgia"/>
                <a:ea typeface="Georgia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3620880" y="190188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Engineer Variables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3639240" y="2395800"/>
            <a:ext cx="13528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5 derived features computed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(e.g. Rain fraction, drought index)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38 total columns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5106960" y="2523600"/>
            <a:ext cx="45360" cy="7272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24"/>
          <p:cNvSpPr/>
          <p:nvPr/>
        </p:nvSpPr>
        <p:spPr>
          <a:xfrm>
            <a:off x="5157360" y="1097280"/>
            <a:ext cx="1572480" cy="292572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25"/>
          <p:cNvSpPr/>
          <p:nvPr/>
        </p:nvSpPr>
        <p:spPr>
          <a:xfrm>
            <a:off x="5157360" y="1097280"/>
            <a:ext cx="1572480" cy="54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5669280" y="1234440"/>
            <a:ext cx="548280" cy="54828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7"/>
          <p:cNvSpPr/>
          <p:nvPr/>
        </p:nvSpPr>
        <p:spPr>
          <a:xfrm>
            <a:off x="5669280" y="12344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3c2e"/>
                </a:solidFill>
                <a:latin typeface="Georgia"/>
                <a:ea typeface="Georgia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5248800" y="190188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Select 6 Features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9"/>
          <p:cNvSpPr/>
          <p:nvPr/>
        </p:nvSpPr>
        <p:spPr>
          <a:xfrm>
            <a:off x="5266800" y="2395800"/>
            <a:ext cx="13528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Filtered from 38 candidates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Used correlation + agronomic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logic + redundancy checks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30"/>
          <p:cNvSpPr/>
          <p:nvPr/>
        </p:nvSpPr>
        <p:spPr>
          <a:xfrm>
            <a:off x="6734520" y="2523600"/>
            <a:ext cx="45360" cy="7272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31"/>
          <p:cNvSpPr/>
          <p:nvPr/>
        </p:nvSpPr>
        <p:spPr>
          <a:xfrm>
            <a:off x="6784920" y="1097280"/>
            <a:ext cx="1572480" cy="292572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32"/>
          <p:cNvSpPr/>
          <p:nvPr/>
        </p:nvSpPr>
        <p:spPr>
          <a:xfrm>
            <a:off x="6784920" y="1097280"/>
            <a:ext cx="1572480" cy="54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33"/>
          <p:cNvSpPr/>
          <p:nvPr/>
        </p:nvSpPr>
        <p:spPr>
          <a:xfrm>
            <a:off x="7296840" y="1234440"/>
            <a:ext cx="548280" cy="54828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4"/>
          <p:cNvSpPr/>
          <p:nvPr/>
        </p:nvSpPr>
        <p:spPr>
          <a:xfrm>
            <a:off x="7296840" y="12344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3c2e"/>
                </a:solidFill>
                <a:latin typeface="Georgia"/>
                <a:ea typeface="Georgia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35"/>
          <p:cNvSpPr/>
          <p:nvPr/>
        </p:nvSpPr>
        <p:spPr>
          <a:xfrm>
            <a:off x="6876360" y="1901880"/>
            <a:ext cx="1389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Train &amp; Validate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6"/>
          <p:cNvSpPr/>
          <p:nvPr/>
        </p:nvSpPr>
        <p:spPr>
          <a:xfrm>
            <a:off x="6894720" y="2395800"/>
            <a:ext cx="13528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Random Forest + SVR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Leave-One-Out CV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12 genuine out-of-sample predictions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37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38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39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METHODOLOGY  ·  SEASONAL DESIGN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3c2e"/>
                </a:solidFill>
                <a:latin typeface="Georgia"/>
                <a:ea typeface="Georgia"/>
              </a:rPr>
              <a:t>The Calendar Matters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11480" y="98748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Annual averages hide when conditions occurred. The year was split into four agronomic seasons: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274320" y="1353240"/>
            <a:ext cx="2011320" cy="3401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274320" y="1353240"/>
            <a:ext cx="2011320" cy="65808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365760" y="1371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  <a:ea typeface="Georgia"/>
              </a:rPr>
              <a:t>Long Rains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365760" y="1664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Mar – May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411480" y="2084760"/>
            <a:ext cx="1737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Main planting season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Germination · pollination · grain fill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Most critical for yield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2450520" y="1353240"/>
            <a:ext cx="2011320" cy="3401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2450520" y="1353240"/>
            <a:ext cx="2011320" cy="65808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2541960" y="1371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  <a:ea typeface="Georgia"/>
              </a:rPr>
              <a:t>Off Season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2541960" y="1664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Jun – Aug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2587680" y="2084760"/>
            <a:ext cx="1737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Normally dry period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Unexpected rain = disease risk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Disrupts soil preparation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4626720" y="1353240"/>
            <a:ext cx="2011320" cy="3401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4626720" y="1353240"/>
            <a:ext cx="2011320" cy="6580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4718160" y="1371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  <a:ea typeface="Georgia"/>
              </a:rPr>
              <a:t>Short Rains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4718160" y="1664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Sep – Nov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4763880" y="2084760"/>
            <a:ext cx="1737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Pre-planting period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Soil recovery &amp; health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Top predictor of next season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6803280" y="1353240"/>
            <a:ext cx="2011320" cy="3401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6803280" y="1353240"/>
            <a:ext cx="2011320" cy="6580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6894720" y="1371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  <a:ea typeface="Georgia"/>
              </a:rPr>
              <a:t>Dry Season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6894720" y="1664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Dec – Feb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6940440" y="2084760"/>
            <a:ext cx="1737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Land preparation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Excess rain degrades soil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Delays planting readiness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274320" y="4608720"/>
            <a:ext cx="8595000" cy="411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411480" y="460872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2020 ANOMALY: </a:t>
            </a: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Record annual rain of 2,371 mm → only 3.07 t/ha yield. Reason: just 34% fell during the planting season. Annual totals are misleading.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6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8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METHODOLOGY  ·  FEATURE SELECTION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411480" y="56700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6 Variables Selected from 38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411480" y="98748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5d5b2"/>
                </a:solidFill>
                <a:latin typeface="Calibri"/>
                <a:ea typeface="Calibri"/>
              </a:rPr>
              <a:t>Filtered by: correlation strength  ·  agronomic logic  ·  low redundancy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274320" y="1344240"/>
            <a:ext cx="4114440" cy="105120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274320" y="1344240"/>
            <a:ext cx="63720" cy="105120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438840" y="1435680"/>
            <a:ext cx="3858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2b788"/>
                </a:solidFill>
                <a:latin typeface="Georgia"/>
                <a:ea typeface="Georgia"/>
              </a:rPr>
              <a:t>+0.61  </a:t>
            </a: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Long Rains Rain Fraction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438840" y="180144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Long Rains mm ÷ Annual mm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438840" y="205740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↑ </a:t>
            </a: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Higher = better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274320" y="2532960"/>
            <a:ext cx="4114440" cy="105120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274320" y="2532960"/>
            <a:ext cx="63720" cy="10512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438840" y="2624400"/>
            <a:ext cx="3858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−</a:t>
            </a: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0.60  </a:t>
            </a: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Short Rains Humidity 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438840" y="299016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Average humidity  Sep–Nov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438840" y="324612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↑ </a:t>
            </a: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Higher = worse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274320" y="3721680"/>
            <a:ext cx="4114440" cy="105120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274320" y="3721680"/>
            <a:ext cx="63720" cy="10512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438840" y="3813120"/>
            <a:ext cx="3858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−</a:t>
            </a: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0.59  </a:t>
            </a: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Dry Season Rainfall (mm)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438840" y="417888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Total rainfall  Dec–Feb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438840" y="443484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↑ </a:t>
            </a: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Higher = worse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4754880" y="1344240"/>
            <a:ext cx="4114440" cy="105120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4754880" y="1344240"/>
            <a:ext cx="63720" cy="105120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4919400" y="1435680"/>
            <a:ext cx="3858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2b788"/>
                </a:solidFill>
                <a:latin typeface="Georgia"/>
                <a:ea typeface="Georgia"/>
              </a:rPr>
              <a:t>+0.52  </a:t>
            </a: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Short Rains Temperature °C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4919400" y="180144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Average temperature  Sep–Nov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4919400" y="205740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↑ </a:t>
            </a: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Higher = better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4754880" y="2532960"/>
            <a:ext cx="4114440" cy="105120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4754880" y="2532960"/>
            <a:ext cx="63720" cy="10512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6"/>
          <p:cNvSpPr/>
          <p:nvPr/>
        </p:nvSpPr>
        <p:spPr>
          <a:xfrm>
            <a:off x="4919400" y="2624400"/>
            <a:ext cx="3858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−</a:t>
            </a: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0.49  </a:t>
            </a: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Short Rains Soil Wetness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4919400" y="299016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Soil saturation (0–1)  Sep–Nov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4919400" y="324612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↑ </a:t>
            </a: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Higher = worse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4754880" y="3721680"/>
            <a:ext cx="4114440" cy="105120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30"/>
          <p:cNvSpPr/>
          <p:nvPr/>
        </p:nvSpPr>
        <p:spPr>
          <a:xfrm>
            <a:off x="4754880" y="3721680"/>
            <a:ext cx="63720" cy="10512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31"/>
          <p:cNvSpPr/>
          <p:nvPr/>
        </p:nvSpPr>
        <p:spPr>
          <a:xfrm>
            <a:off x="4919400" y="3813120"/>
            <a:ext cx="3858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−</a:t>
            </a:r>
            <a:r>
              <a:rPr b="1" lang="en-US" sz="1600" spc="-1" strike="noStrike">
                <a:solidFill>
                  <a:srgbClr val="dc2626"/>
                </a:solidFill>
                <a:latin typeface="Georgia"/>
                <a:ea typeface="Georgia"/>
              </a:rPr>
              <a:t>0.49  </a:t>
            </a:r>
            <a:r>
              <a:rPr b="1" lang="en-US" sz="1200" spc="-1" strike="noStrike">
                <a:solidFill>
                  <a:srgbClr val="ffffff"/>
                </a:solidFill>
                <a:latin typeface="Georgia"/>
                <a:ea typeface="Georgia"/>
              </a:rPr>
              <a:t>Off Season Rainfall (mm)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2"/>
          <p:cNvSpPr/>
          <p:nvPr/>
        </p:nvSpPr>
        <p:spPr>
          <a:xfrm>
            <a:off x="4919400" y="417888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Total rainfall  Jun–Aug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3"/>
          <p:cNvSpPr/>
          <p:nvPr/>
        </p:nvSpPr>
        <p:spPr>
          <a:xfrm>
            <a:off x="4919400" y="443484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↑ </a:t>
            </a:r>
            <a:r>
              <a:rPr b="1" lang="en-US" sz="900" spc="-1" strike="noStrike">
                <a:solidFill>
                  <a:srgbClr val="dc2626"/>
                </a:solidFill>
                <a:latin typeface="Calibri"/>
                <a:ea typeface="Calibri"/>
              </a:rPr>
              <a:t>Higher = worse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34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35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6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KEY FINDINGS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3c2e"/>
                </a:solidFill>
                <a:latin typeface="Georgia"/>
                <a:ea typeface="Georgia"/>
              </a:rPr>
              <a:t>What the Data Revealed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274320" y="1078920"/>
            <a:ext cx="2742840" cy="370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274320" y="1078920"/>
            <a:ext cx="2742840" cy="65808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411480" y="1115640"/>
            <a:ext cx="731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365760" y="17920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d6a4f"/>
                </a:solidFill>
                <a:latin typeface="Georgia"/>
                <a:ea typeface="Georgia"/>
              </a:rPr>
              <a:t>Timing &gt; Volume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411480" y="2313360"/>
            <a:ext cx="2514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Long Rains fraction is the #1 predictor  (r = +0.61)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2020: Record 2,371 mm → only 3.07 t/ha yield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Only 34% fell during the planting window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2018: 1,885 mm, but 53% in planting season → 4.26 t/ha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3182040" y="1078920"/>
            <a:ext cx="2742840" cy="370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3182040" y="1078920"/>
            <a:ext cx="2742840" cy="65808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3319200" y="1115640"/>
            <a:ext cx="731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3273480" y="17920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40af"/>
                </a:solidFill>
                <a:latin typeface="Georgia"/>
                <a:ea typeface="Georgia"/>
              </a:rPr>
              <a:t>Pre-Season Shapes Harvest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3319200" y="2313360"/>
            <a:ext cx="2514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4 of 6 model variables describe Sep–Feb conditions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Short Rains humidity (r = −0.60) ranks equally with timing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High pre-season humidity → disease &amp; waterlogging risk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Dry Season rain → damages soil structure before planting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6089760" y="1078920"/>
            <a:ext cx="2742840" cy="370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4"/>
          <p:cNvSpPr/>
          <p:nvPr/>
        </p:nvSpPr>
        <p:spPr>
          <a:xfrm>
            <a:off x="6089760" y="1078920"/>
            <a:ext cx="2742840" cy="6580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6226920" y="1115640"/>
            <a:ext cx="731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6181200" y="17920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97706"/>
                </a:solidFill>
                <a:latin typeface="Georgia"/>
                <a:ea typeface="Georgia"/>
              </a:rPr>
              <a:t>The Yield Gap is Soil, Not Weather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6226920" y="2313360"/>
            <a:ext cx="2514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Average yield: 3.65 t/ha  vs  seed potential: 9–11 t/ha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Best weather year (2018) only reached 4.26 t/ha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Root cause: soil pH 5.7 (optimal range: 6.0–7.0)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Aluminium toxicity blocks nutrient uptake despite fertiliser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8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MODEL PERFORMANCE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How Well Does It Predict?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411480" y="98748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5d5b2"/>
                </a:solidFill>
                <a:latin typeface="Calibri"/>
                <a:ea typeface="Calibri"/>
              </a:rPr>
              <a:t>All metrics from Leave-One-Out Cross-Validation — every prediction was made on unseen 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255960" y="1298520"/>
            <a:ext cx="2011320" cy="118836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255960" y="1298520"/>
            <a:ext cx="63720" cy="1188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20480" y="1408320"/>
            <a:ext cx="1782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0.364 t/ha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20480" y="1892880"/>
            <a:ext cx="1782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Avg Error (RMSE)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420480" y="2154240"/>
            <a:ext cx="17827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Random Forest · LOO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9"/>
          <p:cNvSpPr/>
          <p:nvPr/>
        </p:nvSpPr>
        <p:spPr>
          <a:xfrm>
            <a:off x="2432160" y="1298520"/>
            <a:ext cx="2011320" cy="118836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2432160" y="1298520"/>
            <a:ext cx="63720" cy="1188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2597040" y="1408320"/>
            <a:ext cx="1782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30%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2597040" y="1892880"/>
            <a:ext cx="1782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Variance Explained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2597040" y="2154240"/>
            <a:ext cx="17827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LOO R² = 0.304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4608720" y="1298520"/>
            <a:ext cx="2011320" cy="118836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4608720" y="1298520"/>
            <a:ext cx="63720" cy="1188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4773240" y="1408320"/>
            <a:ext cx="1782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10%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4773240" y="1892880"/>
            <a:ext cx="1782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Error vs County Avg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4773240" y="2154240"/>
            <a:ext cx="17827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County mean = 3.65 t/ha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6784920" y="1298520"/>
            <a:ext cx="2011320" cy="1188360"/>
          </a:xfrm>
          <a:prstGeom prst="rect">
            <a:avLst/>
          </a:prstGeom>
          <a:solidFill>
            <a:srgbClr val="2d6a4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20"/>
          <p:cNvSpPr/>
          <p:nvPr/>
        </p:nvSpPr>
        <p:spPr>
          <a:xfrm>
            <a:off x="6784920" y="1298520"/>
            <a:ext cx="63720" cy="118836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6949440" y="1408320"/>
            <a:ext cx="1782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≈ </a:t>
            </a: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22"/>
          <p:cNvSpPr/>
          <p:nvPr/>
        </p:nvSpPr>
        <p:spPr>
          <a:xfrm>
            <a:off x="6949440" y="1892880"/>
            <a:ext cx="1782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Model Bias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23"/>
          <p:cNvSpPr/>
          <p:nvPr/>
        </p:nvSpPr>
        <p:spPr>
          <a:xfrm>
            <a:off x="6949440" y="2154240"/>
            <a:ext cx="17827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−</a:t>
            </a:r>
            <a:r>
              <a:rPr b="0" i="1" lang="en-US" sz="900" spc="-1" strike="noStrike">
                <a:solidFill>
                  <a:srgbClr val="95d5b2"/>
                </a:solidFill>
                <a:latin typeface="Calibri"/>
                <a:ea typeface="Calibri"/>
              </a:rPr>
              <a:t>0.007 t/ha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40" name="Table 0"/>
          <p:cNvGraphicFramePr/>
          <p:nvPr/>
        </p:nvGraphicFramePr>
        <p:xfrm>
          <a:off x="255960" y="2606040"/>
          <a:ext cx="1901520" cy="1517040"/>
        </p:xfrm>
        <a:graphic>
          <a:graphicData uri="http://schemas.openxmlformats.org/drawingml/2006/table">
            <a:tbl>
              <a:tblPr/>
              <a:tblGrid>
                <a:gridCol w="438840"/>
                <a:gridCol w="511920"/>
                <a:gridCol w="475200"/>
                <a:gridCol w="475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Pred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2012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2.82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3.55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+0.73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2013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4.10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3.81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0.28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2014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3.93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3.76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0.18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3.89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3.75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0.14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2016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3.95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3.89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0.06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2017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3.31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3.42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+0.11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" name="Table 1"/>
          <p:cNvGraphicFramePr/>
          <p:nvPr/>
        </p:nvGraphicFramePr>
        <p:xfrm>
          <a:off x="2212920" y="2606040"/>
          <a:ext cx="1901520" cy="1517040"/>
        </p:xfrm>
        <a:graphic>
          <a:graphicData uri="http://schemas.openxmlformats.org/drawingml/2006/table">
            <a:tbl>
              <a:tblPr/>
              <a:tblGrid>
                <a:gridCol w="438840"/>
                <a:gridCol w="511920"/>
                <a:gridCol w="475200"/>
                <a:gridCol w="475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Pred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2018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4.26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3.53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0.73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3.24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3.55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+0.31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3.07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3.45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+0.39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3.68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3.80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+0.12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3.50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3.50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~0.00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1e4d38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4.04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3.69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0.35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3600">
                      <a:solidFill>
                        <a:srgbClr val="52b788"/>
                      </a:solidFill>
                      <a:prstDash val="solid"/>
                    </a:lnL>
                    <a:lnR w="3600">
                      <a:solidFill>
                        <a:srgbClr val="52b788"/>
                      </a:solidFill>
                      <a:prstDash val="solid"/>
                    </a:lnR>
                    <a:lnT w="3600">
                      <a:solidFill>
                        <a:srgbClr val="52b788"/>
                      </a:solidFill>
                      <a:prstDash val="solid"/>
                    </a:lnT>
                    <a:lnB w="3600">
                      <a:solidFill>
                        <a:srgbClr val="52b788"/>
                      </a:solidFill>
                      <a:prstDash val="solid"/>
                    </a:lnB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sp>
        <p:nvSpPr>
          <p:cNvPr id="242" name="Shape 24"/>
          <p:cNvSpPr/>
          <p:nvPr/>
        </p:nvSpPr>
        <p:spPr>
          <a:xfrm>
            <a:off x="4251960" y="2578680"/>
            <a:ext cx="4635720" cy="226728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4251960" y="2578680"/>
            <a:ext cx="63720" cy="22672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6"/>
          <p:cNvSpPr/>
          <p:nvPr/>
        </p:nvSpPr>
        <p:spPr>
          <a:xfrm>
            <a:off x="4434840" y="267012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2b788"/>
                </a:solidFill>
                <a:latin typeface="Georgia"/>
                <a:ea typeface="Georgia"/>
              </a:rPr>
              <a:t>Leave-One-Out Cross-Validation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4434840" y="2999160"/>
            <a:ext cx="43430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With only 12 years of data, a standard train/test split is unreliable. LOO-CV holds out one year at a time, trains on the remaining 11, and predicts the held-out year. This is repeated 12 times.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Result: </a:t>
            </a: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12 genuine predictions, each made without the model ever seeing that year during training. All reported metrics come from these 12 predictions only.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28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9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30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VARIABLE IMPORTANCE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3c2e"/>
                </a:solidFill>
                <a:latin typeface="Georgia"/>
                <a:ea typeface="Georgia"/>
              </a:rPr>
              <a:t>Which Variables Drive the Prediction?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411480" y="98748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Permutation importance: each variable was shuffled to break its relationship with yield — the error increase shows its value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274320" y="14263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2e"/>
                </a:solidFill>
                <a:latin typeface="Calibri"/>
                <a:ea typeface="Calibri"/>
              </a:rPr>
              <a:t>Humidity — Short Rains 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5"/>
          <p:cNvSpPr/>
          <p:nvPr/>
        </p:nvSpPr>
        <p:spPr>
          <a:xfrm>
            <a:off x="3200400" y="1481400"/>
            <a:ext cx="3657240" cy="292320"/>
          </a:xfrm>
          <a:prstGeom prst="rect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3200400" y="1481400"/>
            <a:ext cx="3657240" cy="29232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6949440" y="148140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0.0290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7772400" y="148140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 = −0.60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9"/>
          <p:cNvSpPr/>
          <p:nvPr/>
        </p:nvSpPr>
        <p:spPr>
          <a:xfrm>
            <a:off x="274320" y="19933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2e"/>
                </a:solidFill>
                <a:latin typeface="Calibri"/>
                <a:ea typeface="Calibri"/>
              </a:rPr>
              <a:t>Rainfall — Dry Season (mm)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0"/>
          <p:cNvSpPr/>
          <p:nvPr/>
        </p:nvSpPr>
        <p:spPr>
          <a:xfrm>
            <a:off x="3200400" y="2048400"/>
            <a:ext cx="3657240" cy="292320"/>
          </a:xfrm>
          <a:prstGeom prst="rect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1"/>
          <p:cNvSpPr/>
          <p:nvPr/>
        </p:nvSpPr>
        <p:spPr>
          <a:xfrm>
            <a:off x="3200400" y="2048400"/>
            <a:ext cx="3619440" cy="29232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6911640" y="204840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0.0287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7772400" y="204840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 = −0.59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4"/>
          <p:cNvSpPr/>
          <p:nvPr/>
        </p:nvSpPr>
        <p:spPr>
          <a:xfrm>
            <a:off x="274320" y="25603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2e"/>
                </a:solidFill>
                <a:latin typeface="Calibri"/>
                <a:ea typeface="Calibri"/>
              </a:rPr>
              <a:t>Long Rains Rainfall Fraction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5"/>
          <p:cNvSpPr/>
          <p:nvPr/>
        </p:nvSpPr>
        <p:spPr>
          <a:xfrm>
            <a:off x="3200400" y="2615040"/>
            <a:ext cx="3657240" cy="292320"/>
          </a:xfrm>
          <a:prstGeom prst="rect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6"/>
          <p:cNvSpPr/>
          <p:nvPr/>
        </p:nvSpPr>
        <p:spPr>
          <a:xfrm>
            <a:off x="3200400" y="2615040"/>
            <a:ext cx="3140280" cy="29232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6432480" y="261504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0.0249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7772400" y="261504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 = +0.61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274320" y="31273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2e"/>
                </a:solidFill>
                <a:latin typeface="Calibri"/>
                <a:ea typeface="Calibri"/>
              </a:rPr>
              <a:t>Temperature — Short Rains °C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0"/>
          <p:cNvSpPr/>
          <p:nvPr/>
        </p:nvSpPr>
        <p:spPr>
          <a:xfrm>
            <a:off x="3200400" y="3182040"/>
            <a:ext cx="3657240" cy="292320"/>
          </a:xfrm>
          <a:prstGeom prst="rect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1"/>
          <p:cNvSpPr/>
          <p:nvPr/>
        </p:nvSpPr>
        <p:spPr>
          <a:xfrm>
            <a:off x="3200400" y="3182040"/>
            <a:ext cx="1664640" cy="29232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4956840" y="318204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0.0132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7772400" y="318204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 = +0.52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274320" y="36943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2e"/>
                </a:solidFill>
                <a:latin typeface="Calibri"/>
                <a:ea typeface="Calibri"/>
              </a:rPr>
              <a:t>Rainfall — Off Season (mm)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5"/>
          <p:cNvSpPr/>
          <p:nvPr/>
        </p:nvSpPr>
        <p:spPr>
          <a:xfrm>
            <a:off x="3200400" y="3749040"/>
            <a:ext cx="3657240" cy="292320"/>
          </a:xfrm>
          <a:prstGeom prst="rect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6"/>
          <p:cNvSpPr/>
          <p:nvPr/>
        </p:nvSpPr>
        <p:spPr>
          <a:xfrm>
            <a:off x="3200400" y="3749040"/>
            <a:ext cx="920520" cy="292320"/>
          </a:xfrm>
          <a:prstGeom prst="rect">
            <a:avLst/>
          </a:prstGeom>
          <a:solidFill>
            <a:srgbClr val="95d5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7"/>
          <p:cNvSpPr/>
          <p:nvPr/>
        </p:nvSpPr>
        <p:spPr>
          <a:xfrm>
            <a:off x="4212720" y="374904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0.0073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7772400" y="374904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 = −0.49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9"/>
          <p:cNvSpPr/>
          <p:nvPr/>
        </p:nvSpPr>
        <p:spPr>
          <a:xfrm>
            <a:off x="274320" y="42609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3c2e"/>
                </a:solidFill>
                <a:latin typeface="Calibri"/>
                <a:ea typeface="Calibri"/>
              </a:rPr>
              <a:t>Soil Wetness — Short Rains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30"/>
          <p:cNvSpPr/>
          <p:nvPr/>
        </p:nvSpPr>
        <p:spPr>
          <a:xfrm>
            <a:off x="3200400" y="4316040"/>
            <a:ext cx="3657240" cy="292320"/>
          </a:xfrm>
          <a:prstGeom prst="rect">
            <a:avLst/>
          </a:prstGeom>
          <a:solidFill>
            <a:srgbClr val="e5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1"/>
          <p:cNvSpPr/>
          <p:nvPr/>
        </p:nvSpPr>
        <p:spPr>
          <a:xfrm>
            <a:off x="3200400" y="4316040"/>
            <a:ext cx="516600" cy="292320"/>
          </a:xfrm>
          <a:prstGeom prst="rect">
            <a:avLst/>
          </a:prstGeom>
          <a:solidFill>
            <a:srgbClr val="95d5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2"/>
          <p:cNvSpPr/>
          <p:nvPr/>
        </p:nvSpPr>
        <p:spPr>
          <a:xfrm>
            <a:off x="3808800" y="431604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d6a4f"/>
                </a:solidFill>
                <a:latin typeface="Calibri"/>
                <a:ea typeface="Calibri"/>
              </a:rPr>
              <a:t>0.0041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3"/>
          <p:cNvSpPr/>
          <p:nvPr/>
        </p:nvSpPr>
        <p:spPr>
          <a:xfrm>
            <a:off x="7772400" y="431604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r = −0.49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34"/>
          <p:cNvSpPr/>
          <p:nvPr/>
        </p:nvSpPr>
        <p:spPr>
          <a:xfrm>
            <a:off x="274320" y="4590360"/>
            <a:ext cx="8595000" cy="365400"/>
          </a:xfrm>
          <a:prstGeom prst="rect">
            <a:avLst/>
          </a:prstGeom>
          <a:solidFill>
            <a:srgbClr val="1a3c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35"/>
          <p:cNvSpPr/>
          <p:nvPr/>
        </p:nvSpPr>
        <p:spPr>
          <a:xfrm>
            <a:off x="411480" y="459036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Key insight: 3 of the top 4 variables describe pre-planting conditions (Sep–Feb). The harvest is decided before the planting season begins.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36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37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8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STRENGTHS &amp; LIMITATIONS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Honest Assessment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3"/>
          <p:cNvSpPr/>
          <p:nvPr/>
        </p:nvSpPr>
        <p:spPr>
          <a:xfrm>
            <a:off x="274320" y="1078920"/>
            <a:ext cx="63720" cy="356580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457200" y="10789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52b788"/>
                </a:solidFill>
                <a:latin typeface="Calibri"/>
                <a:ea typeface="Calibri"/>
              </a:rPr>
              <a:t>STRENGTHS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457200" y="144468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★★★★★  </a:t>
            </a: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Seasonal weather design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457200" y="17006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Splits year into 4 agronomic seasons — captures WHEN rain falls, not just total volume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457200" y="226764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★★★★★  </a:t>
            </a: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Honest validation (LOO-CV)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457200" y="25236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Every metric from genuinely unseen data. No training accuracy inflating results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457200" y="30906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★★★★★  </a:t>
            </a: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No data leakage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457200" y="33465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Yield variable and all its derivatives excluded from model inputs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457200" y="391356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★★★★☆  </a:t>
            </a: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Principled feature selection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457200" y="41695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6 variables from 38, using correlation + agronomic logic + redundancy checks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13"/>
          <p:cNvSpPr/>
          <p:nvPr/>
        </p:nvSpPr>
        <p:spPr>
          <a:xfrm>
            <a:off x="4572000" y="1078920"/>
            <a:ext cx="63720" cy="35658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4754880" y="10789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d97706"/>
                </a:solidFill>
                <a:latin typeface="Calibri"/>
                <a:ea typeface="Calibri"/>
              </a:rPr>
              <a:t>LIMITATIONS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4754880" y="144468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★★☆☆☆  </a:t>
            </a: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Small dataset  (n = 12)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6"/>
          <p:cNvSpPr/>
          <p:nvPr/>
        </p:nvSpPr>
        <p:spPr>
          <a:xfrm>
            <a:off x="4754880" y="170064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Core constraint. Even r = 0.60 has uncertainty range ±0.25. Results are directional, not precise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7"/>
          <p:cNvSpPr/>
          <p:nvPr/>
        </p:nvSpPr>
        <p:spPr>
          <a:xfrm>
            <a:off x="4754880" y="254196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★★★☆☆  </a:t>
            </a: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Seasonal averages hide extremes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8"/>
          <p:cNvSpPr/>
          <p:nvPr/>
        </p:nvSpPr>
        <p:spPr>
          <a:xfrm>
            <a:off x="4754880" y="27979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A single week of 35°C during pollination destroys a crop but is invisible in a 3-month average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4754880" y="36392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★★★☆☆  </a:t>
            </a:r>
            <a:r>
              <a:rPr b="1" lang="en-US" sz="1000" spc="-1" strike="noStrike">
                <a:solidFill>
                  <a:srgbClr val="d97706"/>
                </a:solidFill>
                <a:latin typeface="Calibri"/>
                <a:ea typeface="Calibri"/>
              </a:rPr>
              <a:t>Disease pressure excluded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0"/>
          <p:cNvSpPr/>
          <p:nvPr/>
        </p:nvSpPr>
        <p:spPr>
          <a:xfrm>
            <a:off x="4754880" y="389520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2012–13 MLN outbreak caused the two largest prediction errors. No disease data available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21"/>
          <p:cNvSpPr/>
          <p:nvPr/>
        </p:nvSpPr>
        <p:spPr>
          <a:xfrm>
            <a:off x="4480560" y="1078920"/>
            <a:ext cx="36360" cy="3565800"/>
          </a:xfrm>
          <a:prstGeom prst="rect">
            <a:avLst/>
          </a:prstGeom>
          <a:solidFill>
            <a:srgbClr val="52b788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2"/>
          <p:cNvSpPr/>
          <p:nvPr/>
        </p:nvSpPr>
        <p:spPr>
          <a:xfrm>
            <a:off x="274320" y="4617720"/>
            <a:ext cx="8595000" cy="38376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3"/>
          <p:cNvSpPr/>
          <p:nvPr/>
        </p:nvSpPr>
        <p:spPr>
          <a:xfrm>
            <a:off x="411480" y="4617720"/>
            <a:ext cx="832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Overall verdict: Valid for identifying key yield drivers and scenario planning. Not for operational forecasting without more historical data.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24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5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26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10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RECOMMENDATIONS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a3c2e"/>
                </a:solidFill>
                <a:latin typeface="Georgia"/>
                <a:ea typeface="Georgia"/>
              </a:rPr>
              <a:t>Three Actions That Follow From the Data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3"/>
          <p:cNvSpPr/>
          <p:nvPr/>
        </p:nvSpPr>
        <p:spPr>
          <a:xfrm>
            <a:off x="274320" y="1078920"/>
            <a:ext cx="274284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274320" y="1078920"/>
            <a:ext cx="2742840" cy="7272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5"/>
          <p:cNvSpPr/>
          <p:nvPr/>
        </p:nvSpPr>
        <p:spPr>
          <a:xfrm>
            <a:off x="384120" y="1216080"/>
            <a:ext cx="502560" cy="502560"/>
          </a:xfrm>
          <a:prstGeom prst="ellipse">
            <a:avLst/>
          </a:prstGeom>
          <a:solidFill>
            <a:srgbClr val="2d6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384120" y="121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1005840" y="1225440"/>
            <a:ext cx="1901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2e"/>
                </a:solidFill>
                <a:latin typeface="Georgia"/>
                <a:ea typeface="Georgia"/>
              </a:rPr>
              <a:t>Act on Rainfall Timing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384120" y="1792080"/>
            <a:ext cx="2523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d6a4f"/>
                </a:solidFill>
                <a:latin typeface="Calibri"/>
                <a:ea typeface="Calibri"/>
              </a:rPr>
              <a:t>Farmers · Extension Officers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411480" y="2066400"/>
            <a:ext cx="24868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Seasons with 40%+ of rain in Mar–May → above-average yield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Invest in inputs when Long Rains forecast looks strong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Apply risk strategies when planting-window fraction &lt; 35%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3182040" y="1078920"/>
            <a:ext cx="274284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3182040" y="1078920"/>
            <a:ext cx="2742840" cy="727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12"/>
          <p:cNvSpPr/>
          <p:nvPr/>
        </p:nvSpPr>
        <p:spPr>
          <a:xfrm>
            <a:off x="3291840" y="1216080"/>
            <a:ext cx="502560" cy="502560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13"/>
          <p:cNvSpPr/>
          <p:nvPr/>
        </p:nvSpPr>
        <p:spPr>
          <a:xfrm>
            <a:off x="3291840" y="121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4"/>
          <p:cNvSpPr/>
          <p:nvPr/>
        </p:nvSpPr>
        <p:spPr>
          <a:xfrm>
            <a:off x="3913560" y="1225440"/>
            <a:ext cx="1901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2e"/>
                </a:solidFill>
                <a:latin typeface="Georgia"/>
                <a:ea typeface="Georgia"/>
              </a:rPr>
              <a:t>Apply Lime to the Soil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5"/>
          <p:cNvSpPr/>
          <p:nvPr/>
        </p:nvSpPr>
        <p:spPr>
          <a:xfrm>
            <a:off x="3291840" y="1792080"/>
            <a:ext cx="2523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d97706"/>
                </a:solidFill>
                <a:latin typeface="Calibri"/>
                <a:ea typeface="Calibri"/>
              </a:rPr>
              <a:t>Farmers · County Government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16"/>
          <p:cNvSpPr/>
          <p:nvPr/>
        </p:nvSpPr>
        <p:spPr>
          <a:xfrm>
            <a:off x="3319200" y="2066400"/>
            <a:ext cx="24868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Soil pH 5.7 is the primary yield cap — not weather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Liming to pH 6.0–7.0 removes aluminium toxicity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30–50% yield improvements documented in similar soils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No weather change can substitute for this intervention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7"/>
          <p:cNvSpPr/>
          <p:nvPr/>
        </p:nvSpPr>
        <p:spPr>
          <a:xfrm>
            <a:off x="6089760" y="1078920"/>
            <a:ext cx="274284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8"/>
          <p:cNvSpPr/>
          <p:nvPr/>
        </p:nvSpPr>
        <p:spPr>
          <a:xfrm>
            <a:off x="6089760" y="1078920"/>
            <a:ext cx="2742840" cy="7272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19"/>
          <p:cNvSpPr/>
          <p:nvPr/>
        </p:nvSpPr>
        <p:spPr>
          <a:xfrm>
            <a:off x="6199560" y="1216080"/>
            <a:ext cx="502560" cy="502560"/>
          </a:xfrm>
          <a:prstGeom prst="ellipse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20"/>
          <p:cNvSpPr/>
          <p:nvPr/>
        </p:nvSpPr>
        <p:spPr>
          <a:xfrm>
            <a:off x="6199560" y="121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1"/>
          <p:cNvSpPr/>
          <p:nvPr/>
        </p:nvSpPr>
        <p:spPr>
          <a:xfrm>
            <a:off x="6821280" y="1225440"/>
            <a:ext cx="1901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3c2e"/>
                </a:solidFill>
                <a:latin typeface="Georgia"/>
                <a:ea typeface="Georgia"/>
              </a:rPr>
              <a:t>Monitor from September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22"/>
          <p:cNvSpPr/>
          <p:nvPr/>
        </p:nvSpPr>
        <p:spPr>
          <a:xfrm>
            <a:off x="6199560" y="1792080"/>
            <a:ext cx="2523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e40af"/>
                </a:solidFill>
                <a:latin typeface="Calibri"/>
                <a:ea typeface="Calibri"/>
              </a:rPr>
              <a:t>Extension Officers · Planners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3"/>
          <p:cNvSpPr/>
          <p:nvPr/>
        </p:nvSpPr>
        <p:spPr>
          <a:xfrm>
            <a:off x="6226920" y="2066400"/>
            <a:ext cx="24868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Short Rains humidity is the #1 ranked predictor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Humidity &gt; 75% Sep–Nov → elevated disease risk signal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Excess Dec–Feb rain → soil drainage management needed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Calibri"/>
              </a:rPr>
              <a:t>Early warning enables timely pre-planting adjustments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4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25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6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0" y="0"/>
            <a:ext cx="9143640" cy="47520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411480" y="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5d5b2"/>
                </a:solidFill>
                <a:latin typeface="Calibri"/>
                <a:ea typeface="Calibri"/>
              </a:rPr>
              <a:t>NEXT STEPS  &amp;  INTERACTIVE DASHBOARD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411480" y="56700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Where This Work Goes Next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3"/>
          <p:cNvSpPr/>
          <p:nvPr/>
        </p:nvSpPr>
        <p:spPr>
          <a:xfrm>
            <a:off x="274320" y="1078920"/>
            <a:ext cx="4205880" cy="365724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274320" y="1078920"/>
            <a:ext cx="63720" cy="365724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457200" y="11703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2b788"/>
                </a:solidFill>
                <a:latin typeface="Georgia"/>
                <a:ea typeface="Georgia"/>
              </a:rPr>
              <a:t>Future Research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457200" y="1536120"/>
            <a:ext cx="384012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5d5b2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Extend dataset to 20+ years to reduce statistical uncertainty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5d5b2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Add disease surveillance indicators (MLN, Fall Armyworm)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5d5b2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Move to monthly/weekly weather data to capture extreme events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5d5b2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Test model on adjacent counties (Trans Nzoia, Nandi, Elgeyo-Marakwet)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5d5b2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Conduct liming trial to quantify pH correction yield response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4663440" y="1078920"/>
            <a:ext cx="4205880" cy="3657240"/>
          </a:xfrm>
          <a:prstGeom prst="rect">
            <a:avLst/>
          </a:prstGeom>
          <a:solidFill>
            <a:srgbClr val="2d6a4f">
              <a:alpha val="60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4663440" y="1078920"/>
            <a:ext cx="63720" cy="365724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4846320" y="11703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2b788"/>
                </a:solidFill>
                <a:latin typeface="Georgia"/>
                <a:ea typeface="Georgia"/>
              </a:rPr>
              <a:t>Interactive Dashboard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4846320" y="153612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A live Streamlit dashboard was built so that anyone can enter seasonal weather inputs and receive an instant yield prediction — no technical knowledge needed.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11"/>
          <p:cNvSpPr/>
          <p:nvPr/>
        </p:nvSpPr>
        <p:spPr>
          <a:xfrm>
            <a:off x="4846320" y="2267640"/>
            <a:ext cx="109440" cy="3196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12"/>
          <p:cNvSpPr/>
          <p:nvPr/>
        </p:nvSpPr>
        <p:spPr>
          <a:xfrm>
            <a:off x="5074920" y="22860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Overview  —  Yield trends, year-by-year data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3"/>
          <p:cNvSpPr/>
          <p:nvPr/>
        </p:nvSpPr>
        <p:spPr>
          <a:xfrm>
            <a:off x="4846320" y="2743200"/>
            <a:ext cx="109440" cy="3196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4"/>
          <p:cNvSpPr/>
          <p:nvPr/>
        </p:nvSpPr>
        <p:spPr>
          <a:xfrm>
            <a:off x="5074920" y="2761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Data Exploration  —  Interactive scatter plots, correlations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15"/>
          <p:cNvSpPr/>
          <p:nvPr/>
        </p:nvSpPr>
        <p:spPr>
          <a:xfrm>
            <a:off x="4846320" y="3218760"/>
            <a:ext cx="109440" cy="3196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6"/>
          <p:cNvSpPr/>
          <p:nvPr/>
        </p:nvSpPr>
        <p:spPr>
          <a:xfrm>
            <a:off x="5074920" y="32371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Yield Predictor  —  Live model with slider inputs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17"/>
          <p:cNvSpPr/>
          <p:nvPr/>
        </p:nvSpPr>
        <p:spPr>
          <a:xfrm>
            <a:off x="4846320" y="3694320"/>
            <a:ext cx="109440" cy="3196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18"/>
          <p:cNvSpPr/>
          <p:nvPr/>
        </p:nvSpPr>
        <p:spPr>
          <a:xfrm>
            <a:off x="5074920" y="37123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5d5b2"/>
                </a:solidFill>
                <a:latin typeface="Calibri"/>
                <a:ea typeface="Calibri"/>
              </a:rPr>
              <a:t>Model Performance  —  Validation charts, importance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19"/>
          <p:cNvSpPr/>
          <p:nvPr/>
        </p:nvSpPr>
        <p:spPr>
          <a:xfrm>
            <a:off x="4846320" y="4187880"/>
            <a:ext cx="3840120" cy="228240"/>
          </a:xfrm>
          <a:prstGeom prst="rect">
            <a:avLst/>
          </a:prstGeom>
          <a:solidFill>
            <a:srgbClr val="52b788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4846320" y="4187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2b788"/>
                </a:solidFill>
                <a:latin typeface="Calibri"/>
                <a:ea typeface="Calibri"/>
              </a:rPr>
              <a:t>maize-yieldprediction.streamlit.app  ·  github.com/Caleb403/maize-yield-prediction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21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1a3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22"/>
          <p:cNvSpPr/>
          <p:nvPr/>
        </p:nvSpPr>
        <p:spPr>
          <a:xfrm>
            <a:off x="274320" y="4892040"/>
            <a:ext cx="78634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5d5b2"/>
                </a:solidFill>
                <a:latin typeface="Calibri"/>
                <a:ea typeface="Calibri"/>
              </a:rPr>
              <a:t>Maize Yield Prediction  ·  Uasin Gishu County, Kenya  ·    ·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3"/>
          <p:cNvSpPr/>
          <p:nvPr/>
        </p:nvSpPr>
        <p:spPr>
          <a:xfrm>
            <a:off x="8412480" y="4892040"/>
            <a:ext cx="548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  <a:ea typeface="Calibri"/>
              </a:rPr>
              <a:t>12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0"/>
            <a:ext cx="9143640" cy="13680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"/>
          <p:cNvSpPr/>
          <p:nvPr/>
        </p:nvSpPr>
        <p:spPr>
          <a:xfrm>
            <a:off x="0" y="5006520"/>
            <a:ext cx="9143640" cy="13680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6858000" y="137160"/>
            <a:ext cx="2285640" cy="4869000"/>
          </a:xfrm>
          <a:prstGeom prst="rect">
            <a:avLst/>
          </a:prstGeom>
          <a:solidFill>
            <a:srgbClr val="2d6a4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9" name="Image 0" descr="preencoded.png"/>
          <p:cNvPicPr/>
          <p:nvPr/>
        </p:nvPicPr>
        <p:blipFill>
          <a:blip r:embed="rId1">
            <a:alphaModFix amt="45000"/>
          </a:blip>
          <a:stretch/>
        </p:blipFill>
        <p:spPr>
          <a:xfrm>
            <a:off x="6583680" y="457200"/>
            <a:ext cx="2285640" cy="2285640"/>
          </a:xfrm>
          <a:prstGeom prst="rect">
            <a:avLst/>
          </a:prstGeom>
          <a:ln w="0">
            <a:noFill/>
          </a:ln>
        </p:spPr>
      </p:pic>
      <p:sp>
        <p:nvSpPr>
          <p:cNvPr id="370" name="Text 3"/>
          <p:cNvSpPr/>
          <p:nvPr/>
        </p:nvSpPr>
        <p:spPr>
          <a:xfrm>
            <a:off x="548640" y="640080"/>
            <a:ext cx="6217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48" strike="noStrike">
                <a:solidFill>
                  <a:srgbClr val="52b788"/>
                </a:solidFill>
                <a:latin typeface="Calibri"/>
                <a:ea typeface="Calibri"/>
              </a:rPr>
              <a:t>Key Takeaways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4"/>
          <p:cNvSpPr/>
          <p:nvPr/>
        </p:nvSpPr>
        <p:spPr>
          <a:xfrm>
            <a:off x="548640" y="1115640"/>
            <a:ext cx="54360" cy="4384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731520" y="107892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Georgia"/>
                <a:ea typeface="Georgia"/>
              </a:rPr>
              <a:t>Timing beats volume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731520" y="13348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Long Rains fraction (r = +0.61) is the top predictor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7"/>
          <p:cNvSpPr/>
          <p:nvPr/>
        </p:nvSpPr>
        <p:spPr>
          <a:xfrm>
            <a:off x="548640" y="1774080"/>
            <a:ext cx="54360" cy="4384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731520" y="17373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Georgia"/>
                <a:ea typeface="Georgia"/>
              </a:rPr>
              <a:t>Pre-season is critical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9"/>
          <p:cNvSpPr/>
          <p:nvPr/>
        </p:nvSpPr>
        <p:spPr>
          <a:xfrm>
            <a:off x="731520" y="199332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Sep–Feb conditions outrank growing-season weather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548640" y="2432160"/>
            <a:ext cx="54360" cy="4384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731520" y="23958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Georgia"/>
                <a:ea typeface="Georgia"/>
              </a:rPr>
              <a:t>30% variance explained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731520" y="26517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Model error: ±0.36 t/ha  ·  10% of county mean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548640" y="3090600"/>
            <a:ext cx="54360" cy="4384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731520" y="305424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Georgia"/>
                <a:ea typeface="Georgia"/>
              </a:rPr>
              <a:t>The gap is structural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731520" y="33102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Soil pH 5.7 causes ~6.5 t/ha gap — lime is the fix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16"/>
          <p:cNvSpPr/>
          <p:nvPr/>
        </p:nvSpPr>
        <p:spPr>
          <a:xfrm>
            <a:off x="548640" y="3749040"/>
            <a:ext cx="54360" cy="43848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17"/>
          <p:cNvSpPr/>
          <p:nvPr/>
        </p:nvSpPr>
        <p:spPr>
          <a:xfrm>
            <a:off x="731520" y="371232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Georgia"/>
                <a:ea typeface="Georgia"/>
              </a:rPr>
              <a:t>Results are honest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18"/>
          <p:cNvSpPr/>
          <p:nvPr/>
        </p:nvSpPr>
        <p:spPr>
          <a:xfrm>
            <a:off x="731520" y="39686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All metrics from LOO-CV on genuinely unseen data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19"/>
          <p:cNvSpPr/>
          <p:nvPr/>
        </p:nvSpPr>
        <p:spPr>
          <a:xfrm>
            <a:off x="548640" y="4370760"/>
            <a:ext cx="6217560" cy="621360"/>
          </a:xfrm>
          <a:prstGeom prst="rect">
            <a:avLst/>
          </a:prstGeom>
          <a:solidFill>
            <a:srgbClr val="2d6a4f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20"/>
          <p:cNvSpPr/>
          <p:nvPr/>
        </p:nvSpPr>
        <p:spPr>
          <a:xfrm>
            <a:off x="685800" y="440748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Research Question: </a:t>
            </a:r>
            <a:r>
              <a:rPr b="0" i="1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Can seasonal weather predict maize yield in Uasin Gishu County?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2b788"/>
                </a:solidFill>
                <a:latin typeface="Calibri"/>
                <a:ea typeface="Calibri"/>
              </a:rPr>
              <a:t>Answer: </a:t>
            </a:r>
            <a:r>
              <a:rPr b="0" lang="en-US" sz="1000" spc="-1" strike="noStrike">
                <a:solidFill>
                  <a:srgbClr val="95d5b2"/>
                </a:solidFill>
                <a:latin typeface="Calibri"/>
                <a:ea typeface="Calibri"/>
              </a:rPr>
              <a:t>Yes — with ±0.36 t/ha accuracy. But closing the yield gap requires soil liming, not better weather.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1"/>
          <p:cNvSpPr/>
          <p:nvPr/>
        </p:nvSpPr>
        <p:spPr>
          <a:xfrm>
            <a:off x="8412480" y="48279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52b788"/>
                </a:solidFill>
                <a:latin typeface="Calibri"/>
              </a:rPr>
              <a:t>13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2026-03-05T11:53:05Z</dcterms:created>
  <dc:creator>PptxGenJS</dc:creator>
  <dc:description/>
  <dc:language>en-US</dc:language>
  <cp:lastModifiedBy/>
  <dcterms:modified xsi:type="dcterms:W3CDTF">2026-03-05T15:24:43Z</dcterms:modified>
  <cp:revision>3</cp:revision>
  <dc:subject>PptxGenJS Presentation</dc:subject>
  <dc:title>Maize Yield Prediction — Uasin Gishu County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